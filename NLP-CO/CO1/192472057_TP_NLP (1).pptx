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" panose="020B0604020202020204" charset="0"/>
      <p:regular r:id="rId10"/>
    </p:embeddedFont>
    <p:embeddedFont>
      <p:font typeface="Arimo Bold" panose="020B0604020202020204" charset="0"/>
      <p:bold r:id="rId11"/>
    </p:embeddedFont>
    <p:embeddedFont>
      <p:font typeface="In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200"/>
        <p:guide pos="29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sv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23365" y="-8039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828800" y="1428750"/>
            <a:ext cx="6327140" cy="8221345"/>
            <a:chOff x="0" y="0"/>
            <a:chExt cx="9150922" cy="137267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458200" y="2818130"/>
            <a:ext cx="10082530" cy="3505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6090"/>
              </a:lnSpc>
            </a:pPr>
            <a:r>
              <a:rPr lang="en-US" sz="4500" b="1" dirty="0">
                <a:solidFill>
                  <a:srgbClr val="0C0D0F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Morphological Analysis for </a:t>
            </a:r>
          </a:p>
          <a:p>
            <a:pPr algn="ctr">
              <a:lnSpc>
                <a:spcPts val="6090"/>
              </a:lnSpc>
            </a:pPr>
            <a:r>
              <a:rPr lang="en-US" sz="4500" b="1" dirty="0">
                <a:solidFill>
                  <a:srgbClr val="0C0D0F"/>
                </a:solidFill>
                <a:latin typeface="Times New Roman" panose="02020603050405020304" charset="0"/>
                <a:ea typeface="Inter" panose="02000503000000020004"/>
                <a:cs typeface="Times New Roman" panose="02020603050405020304" charset="0"/>
                <a:sym typeface="Inter" panose="02000503000000020004"/>
              </a:rPr>
              <a:t>Indian Languages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30200" y="7468870"/>
            <a:ext cx="4900930" cy="798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5"/>
              </a:lnSpc>
            </a:pPr>
            <a:r>
              <a:rPr lang="en-IN" altLang="en-US" sz="2500" b="1">
                <a:solidFill>
                  <a:schemeClr val="tx1"/>
                </a:solidFill>
                <a:latin typeface="Times New Roman" panose="02020603050405020304" charset="0"/>
                <a:ea typeface="Arimo Italics" panose="020B0604020202090204"/>
                <a:cs typeface="Times New Roman" panose="02020603050405020304" charset="0"/>
                <a:sym typeface="Arimo Italics" panose="020B0604020202090204"/>
              </a:rPr>
              <a:t>Presented by </a:t>
            </a:r>
            <a:br>
              <a:rPr lang="en-IN" altLang="en-US" sz="2500">
                <a:solidFill>
                  <a:schemeClr val="tx1"/>
                </a:solidFill>
                <a:latin typeface="Times New Roman" panose="02020603050405020304" charset="0"/>
                <a:ea typeface="Arimo Italics" panose="020B0604020202090204"/>
                <a:cs typeface="Times New Roman" panose="02020603050405020304" charset="0"/>
                <a:sym typeface="Arimo Italics" panose="020B0604020202090204"/>
              </a:rPr>
            </a:br>
            <a:r>
              <a:rPr lang="en-IN" altLang="en-US" sz="2500">
                <a:solidFill>
                  <a:schemeClr val="tx1"/>
                </a:solidFill>
                <a:latin typeface="Times New Roman" panose="02020603050405020304" charset="0"/>
                <a:ea typeface="Arimo Italics" panose="020B0604020202090204"/>
                <a:cs typeface="Times New Roman" panose="02020603050405020304" charset="0"/>
                <a:sym typeface="Arimo Italics" panose="020B0604020202090204"/>
              </a:rPr>
              <a:t>C Anu keerthana(192472057)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  <a:solidFill>
            <a:schemeClr val="bg1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grpFill/>
          </p:spPr>
        </p:sp>
      </p:grpSp>
      <p:sp>
        <p:nvSpPr>
          <p:cNvPr id="6" name="TextBox 6"/>
          <p:cNvSpPr txBox="1"/>
          <p:nvPr/>
        </p:nvSpPr>
        <p:spPr>
          <a:xfrm>
            <a:off x="992991" y="708993"/>
            <a:ext cx="16315868" cy="75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8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Introduction to Morphological Analysis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629452" y="1867075"/>
            <a:ext cx="6858724" cy="7765971"/>
            <a:chOff x="0" y="0"/>
            <a:chExt cx="9144965" cy="103546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5015" cy="10354690"/>
            </a:xfrm>
            <a:custGeom>
              <a:avLst/>
              <a:gdLst/>
              <a:ahLst/>
              <a:cxnLst/>
              <a:rect l="l" t="t" r="r" b="b"/>
              <a:pathLst>
                <a:path w="9145015" h="10354690">
                  <a:moveTo>
                    <a:pt x="0" y="452882"/>
                  </a:moveTo>
                  <a:cubicBezTo>
                    <a:pt x="0" y="202692"/>
                    <a:pt x="202692" y="0"/>
                    <a:pt x="452882" y="0"/>
                  </a:cubicBezTo>
                  <a:lnTo>
                    <a:pt x="8692134" y="0"/>
                  </a:lnTo>
                  <a:cubicBezTo>
                    <a:pt x="8942197" y="0"/>
                    <a:pt x="9145015" y="202692"/>
                    <a:pt x="9145015" y="452882"/>
                  </a:cubicBezTo>
                  <a:lnTo>
                    <a:pt x="9145015" y="9901809"/>
                  </a:lnTo>
                  <a:cubicBezTo>
                    <a:pt x="9145015" y="10151872"/>
                    <a:pt x="8942324" y="10354690"/>
                    <a:pt x="8692134" y="10354690"/>
                  </a:cubicBezTo>
                  <a:lnTo>
                    <a:pt x="452882" y="10354690"/>
                  </a:lnTo>
                  <a:cubicBezTo>
                    <a:pt x="202692" y="10354564"/>
                    <a:pt x="0" y="10151872"/>
                    <a:pt x="0" y="9901809"/>
                  </a:cubicBezTo>
                  <a:close/>
                </a:path>
              </a:pathLst>
            </a:custGeom>
            <a:solidFill>
              <a:srgbClr val="FFF0ED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0865225" y="2006003"/>
            <a:ext cx="6387179" cy="387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Word Structure Decomposition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1024892" y="2645702"/>
            <a:ext cx="6067701" cy="3014186"/>
            <a:chOff x="0" y="0"/>
            <a:chExt cx="8090268" cy="4018915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8090281" cy="4018915"/>
            </a:xfrm>
            <a:custGeom>
              <a:avLst/>
              <a:gdLst/>
              <a:ahLst/>
              <a:cxnLst/>
              <a:rect l="l" t="t" r="r" b="b"/>
              <a:pathLst>
                <a:path w="8090281" h="4018915">
                  <a:moveTo>
                    <a:pt x="0" y="0"/>
                  </a:moveTo>
                  <a:lnTo>
                    <a:pt x="8090281" y="0"/>
                  </a:lnTo>
                  <a:lnTo>
                    <a:pt x="8090281" y="4018915"/>
                  </a:lnTo>
                  <a:lnTo>
                    <a:pt x="0" y="4018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9" b="-89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5502042" y="3485893"/>
            <a:ext cx="1373143" cy="1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Example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02042" y="4621149"/>
            <a:ext cx="1373143" cy="1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Suffix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42262" y="4621149"/>
            <a:ext cx="1373143" cy="1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Root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242834" y="3482940"/>
            <a:ext cx="1373143" cy="1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Prefix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865225" y="5911901"/>
            <a:ext cx="6387179" cy="1993173"/>
            <a:chOff x="0" y="0"/>
            <a:chExt cx="8516239" cy="265756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16366" cy="2657602"/>
            </a:xfrm>
            <a:custGeom>
              <a:avLst/>
              <a:gdLst/>
              <a:ahLst/>
              <a:cxnLst/>
              <a:rect l="l" t="t" r="r" b="b"/>
              <a:pathLst>
                <a:path w="8516366" h="2657602">
                  <a:moveTo>
                    <a:pt x="0" y="283083"/>
                  </a:moveTo>
                  <a:cubicBezTo>
                    <a:pt x="0" y="126746"/>
                    <a:pt x="126746" y="0"/>
                    <a:pt x="283083" y="0"/>
                  </a:cubicBezTo>
                  <a:lnTo>
                    <a:pt x="8233283" y="0"/>
                  </a:lnTo>
                  <a:cubicBezTo>
                    <a:pt x="8389620" y="0"/>
                    <a:pt x="8516366" y="126746"/>
                    <a:pt x="8516366" y="283083"/>
                  </a:cubicBezTo>
                  <a:lnTo>
                    <a:pt x="8516366" y="2374519"/>
                  </a:lnTo>
                  <a:cubicBezTo>
                    <a:pt x="8516366" y="2530856"/>
                    <a:pt x="8389620" y="2657602"/>
                    <a:pt x="8233283" y="2657602"/>
                  </a:cubicBezTo>
                  <a:lnTo>
                    <a:pt x="283083" y="2657602"/>
                  </a:lnTo>
                  <a:cubicBezTo>
                    <a:pt x="126746" y="2657602"/>
                    <a:pt x="0" y="2530856"/>
                    <a:pt x="0" y="2374519"/>
                  </a:cubicBezTo>
                  <a:close/>
                </a:path>
              </a:pathLst>
            </a:custGeom>
            <a:solidFill>
              <a:srgbClr val="FFD7CC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100997" y="6266993"/>
            <a:ext cx="294751" cy="235782"/>
            <a:chOff x="0" y="0"/>
            <a:chExt cx="393002" cy="314376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393065" cy="314325"/>
            </a:xfrm>
            <a:custGeom>
              <a:avLst/>
              <a:gdLst/>
              <a:ahLst/>
              <a:cxnLst/>
              <a:rect l="l" t="t" r="r" b="b"/>
              <a:pathLst>
                <a:path w="393065" h="314325">
                  <a:moveTo>
                    <a:pt x="0" y="0"/>
                  </a:moveTo>
                  <a:lnTo>
                    <a:pt x="393065" y="0"/>
                  </a:lnTo>
                  <a:lnTo>
                    <a:pt x="393065" y="314325"/>
                  </a:lnTo>
                  <a:lnTo>
                    <a:pt x="0" y="314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08" r="16" b="-424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11631530" y="6086685"/>
            <a:ext cx="5385102" cy="155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800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 single root word can yield dozens of valid surface forms when combined with different morphemes — making morphological analysis essential for any NLP pipeline.</a:t>
            </a:r>
          </a:p>
        </p:txBody>
      </p:sp>
      <p:pic>
        <p:nvPicPr>
          <p:cNvPr id="33" name="Picture 32" descr="ChatGPT Image Jul 24, 2026, 07_35_16 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1943100"/>
            <a:ext cx="8670290" cy="693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676970"/>
            <a:ext cx="16315868" cy="6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360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Morphological Richness of Indian Languages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1617393"/>
            <a:ext cx="7930801" cy="30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704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Agglutinative Nature</a:t>
            </a:r>
            <a:r>
              <a:rPr lang="en-US" sz="180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— The Core Challenge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991" y="2009746"/>
            <a:ext cx="7930801" cy="829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Indian languages like Telugu, Tamil, and Kannada attach multiple suffixes to a single root, encoding complex grammatical information — </a:t>
            </a:r>
            <a:r>
              <a:rPr lang="en-US" sz="1425" b="1">
                <a:solidFill>
                  <a:srgbClr val="55575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Gender, Number, Person, Tense, Case,</a:t>
            </a:r>
            <a:r>
              <a:rPr 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and </a:t>
            </a:r>
            <a:r>
              <a:rPr lang="en-US" sz="1425" b="1">
                <a:solidFill>
                  <a:srgbClr val="55575A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Mood</a:t>
            </a:r>
            <a:r>
              <a:rPr 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— often within a single word form.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92991" y="2996317"/>
            <a:ext cx="7930801" cy="1101595"/>
          </a:xfrm>
          <a:custGeom>
            <a:avLst/>
            <a:gdLst/>
            <a:ahLst/>
            <a:cxnLst/>
            <a:rect l="l" t="t" r="r" b="b"/>
            <a:pathLst>
              <a:path w="7930801" h="1101595">
                <a:moveTo>
                  <a:pt x="0" y="0"/>
                </a:moveTo>
                <a:lnTo>
                  <a:pt x="7930801" y="0"/>
                </a:lnTo>
                <a:lnTo>
                  <a:pt x="7930801" y="1101595"/>
                </a:lnTo>
                <a:lnTo>
                  <a:pt x="0" y="110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0" b="-559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74483" y="3192037"/>
            <a:ext cx="7444064" cy="30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Hindi Inflection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4483" y="3584381"/>
            <a:ext cx="7444064" cy="30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लड़का (boy) → लड़के (boys, nominative) → लड़कों (boys, oblique case)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992991" y="4237472"/>
            <a:ext cx="7930801" cy="1101595"/>
          </a:xfrm>
          <a:custGeom>
            <a:avLst/>
            <a:gdLst/>
            <a:ahLst/>
            <a:cxnLst/>
            <a:rect l="l" t="t" r="r" b="b"/>
            <a:pathLst>
              <a:path w="7930801" h="1101595">
                <a:moveTo>
                  <a:pt x="0" y="0"/>
                </a:moveTo>
                <a:lnTo>
                  <a:pt x="7930801" y="0"/>
                </a:lnTo>
                <a:lnTo>
                  <a:pt x="7930801" y="1101595"/>
                </a:lnTo>
                <a:lnTo>
                  <a:pt x="0" y="1101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0" b="-559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74483" y="4433192"/>
            <a:ext cx="7444064" cy="30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Telugu Inflection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4483" y="4825536"/>
            <a:ext cx="7444064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" alt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విద్యార్థి (</a:t>
            </a:r>
            <a:r>
              <a:rPr lang="en-US" alt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student) → </a:t>
            </a:r>
            <a:r>
              <a:rPr lang="" alt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విద్యార్థులు (</a:t>
            </a:r>
            <a:r>
              <a:rPr lang="en-US" alt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students) → </a:t>
            </a:r>
            <a:r>
              <a:rPr lang="" alt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విద్యార్థులకు (</a:t>
            </a:r>
            <a:r>
              <a:rPr lang="en-US" alt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to the students)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92991" y="5478628"/>
            <a:ext cx="7930801" cy="1101595"/>
          </a:xfrm>
          <a:custGeom>
            <a:avLst/>
            <a:gdLst/>
            <a:ahLst/>
            <a:cxnLst/>
            <a:rect l="l" t="t" r="r" b="b"/>
            <a:pathLst>
              <a:path w="7930801" h="1101595">
                <a:moveTo>
                  <a:pt x="0" y="0"/>
                </a:moveTo>
                <a:lnTo>
                  <a:pt x="7930801" y="0"/>
                </a:lnTo>
                <a:lnTo>
                  <a:pt x="7930801" y="1101594"/>
                </a:lnTo>
                <a:lnTo>
                  <a:pt x="0" y="110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0" b="-559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74483" y="5674347"/>
            <a:ext cx="7444064" cy="30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Tamil Inflection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4483" y="6066692"/>
            <a:ext cx="7444064" cy="308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மரம் (tree) → மரங்கள் (trees) — nasal insertion + plural suffix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87583" y="1617393"/>
            <a:ext cx="7930801" cy="300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>
                <a:solidFill>
                  <a:srgbClr val="FF704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Indian Language Regions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387583" y="2074793"/>
            <a:ext cx="6344583" cy="6344736"/>
            <a:chOff x="0" y="0"/>
            <a:chExt cx="8459445" cy="8459648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8459470" cy="8459597"/>
            </a:xfrm>
            <a:custGeom>
              <a:avLst/>
              <a:gdLst/>
              <a:ahLst/>
              <a:cxnLst/>
              <a:rect l="l" t="t" r="r" b="b"/>
              <a:pathLst>
                <a:path w="8459470" h="8459597">
                  <a:moveTo>
                    <a:pt x="0" y="0"/>
                  </a:moveTo>
                  <a:lnTo>
                    <a:pt x="8459470" y="0"/>
                  </a:lnTo>
                  <a:lnTo>
                    <a:pt x="8459470" y="8459597"/>
                  </a:lnTo>
                  <a:lnTo>
                    <a:pt x="0" y="8459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9387583" y="8576520"/>
            <a:ext cx="7930801" cy="865365"/>
            <a:chOff x="0" y="0"/>
            <a:chExt cx="10574401" cy="11538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574401" cy="1153795"/>
            </a:xfrm>
            <a:custGeom>
              <a:avLst/>
              <a:gdLst/>
              <a:ahLst/>
              <a:cxnLst/>
              <a:rect l="l" t="t" r="r" b="b"/>
              <a:pathLst>
                <a:path w="10574401" h="1153795">
                  <a:moveTo>
                    <a:pt x="0" y="223393"/>
                  </a:moveTo>
                  <a:cubicBezTo>
                    <a:pt x="0" y="100076"/>
                    <a:pt x="100076" y="0"/>
                    <a:pt x="223393" y="0"/>
                  </a:cubicBezTo>
                  <a:lnTo>
                    <a:pt x="10351008" y="0"/>
                  </a:lnTo>
                  <a:cubicBezTo>
                    <a:pt x="10474451" y="0"/>
                    <a:pt x="10574401" y="100076"/>
                    <a:pt x="10574401" y="223393"/>
                  </a:cubicBezTo>
                  <a:lnTo>
                    <a:pt x="10574401" y="930402"/>
                  </a:lnTo>
                  <a:cubicBezTo>
                    <a:pt x="10574401" y="1053846"/>
                    <a:pt x="10474325" y="1153795"/>
                    <a:pt x="10351008" y="1153795"/>
                  </a:cubicBezTo>
                  <a:lnTo>
                    <a:pt x="223393" y="1153795"/>
                  </a:lnTo>
                  <a:cubicBezTo>
                    <a:pt x="100076" y="1153795"/>
                    <a:pt x="0" y="1053719"/>
                    <a:pt x="0" y="930402"/>
                  </a:cubicBezTo>
                  <a:close/>
                </a:path>
              </a:pathLst>
            </a:custGeom>
            <a:solidFill>
              <a:srgbClr val="FFD7CC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573758" y="8846410"/>
            <a:ext cx="232648" cy="186176"/>
            <a:chOff x="0" y="0"/>
            <a:chExt cx="310198" cy="248234"/>
          </a:xfrm>
        </p:grpSpPr>
        <p:sp>
          <p:nvSpPr>
            <p:cNvPr id="24" name="Freeform 24" descr="preencoded.png"/>
            <p:cNvSpPr/>
            <p:nvPr/>
          </p:nvSpPr>
          <p:spPr>
            <a:xfrm>
              <a:off x="0" y="0"/>
              <a:ext cx="310134" cy="248285"/>
            </a:xfrm>
            <a:custGeom>
              <a:avLst/>
              <a:gdLst/>
              <a:ahLst/>
              <a:cxnLst/>
              <a:rect l="l" t="t" r="r" b="b"/>
              <a:pathLst>
                <a:path w="310134" h="248285">
                  <a:moveTo>
                    <a:pt x="0" y="0"/>
                  </a:moveTo>
                  <a:lnTo>
                    <a:pt x="310134" y="0"/>
                  </a:lnTo>
                  <a:lnTo>
                    <a:pt x="310134" y="248285"/>
                  </a:lnTo>
                  <a:lnTo>
                    <a:pt x="0" y="248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" r="-36" b="20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9992582" y="8700926"/>
            <a:ext cx="7139626" cy="56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42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 single root can generate </a:t>
            </a:r>
            <a:r>
              <a:rPr lang="en-US" sz="1425" b="1">
                <a:solidFill>
                  <a:srgbClr val="000000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hundreds of valid word forms</a:t>
            </a:r>
            <a:r>
              <a:rPr lang="en-US" sz="1425">
                <a:solidFill>
                  <a:srgbClr val="000000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 — making morphological analysis essential for any Indian language NLP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287351"/>
            <a:ext cx="16315868" cy="68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413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Challenges in Morphological Analysis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0107416" y="2244300"/>
            <a:ext cx="7362739" cy="6734823"/>
            <a:chOff x="0" y="0"/>
            <a:chExt cx="9816986" cy="897976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816974" cy="8979789"/>
            </a:xfrm>
            <a:custGeom>
              <a:avLst/>
              <a:gdLst/>
              <a:ahLst/>
              <a:cxnLst/>
              <a:rect l="l" t="t" r="r" b="b"/>
              <a:pathLst>
                <a:path w="9816974" h="8979789">
                  <a:moveTo>
                    <a:pt x="0" y="405130"/>
                  </a:moveTo>
                  <a:cubicBezTo>
                    <a:pt x="0" y="181356"/>
                    <a:pt x="181356" y="0"/>
                    <a:pt x="405130" y="0"/>
                  </a:cubicBezTo>
                  <a:lnTo>
                    <a:pt x="9411843" y="0"/>
                  </a:lnTo>
                  <a:cubicBezTo>
                    <a:pt x="9635617" y="0"/>
                    <a:pt x="9816974" y="181356"/>
                    <a:pt x="9816974" y="405130"/>
                  </a:cubicBezTo>
                  <a:lnTo>
                    <a:pt x="9816974" y="8574659"/>
                  </a:lnTo>
                  <a:cubicBezTo>
                    <a:pt x="9816974" y="8798433"/>
                    <a:pt x="9635617" y="8979789"/>
                    <a:pt x="9411843" y="8979789"/>
                  </a:cubicBezTo>
                  <a:lnTo>
                    <a:pt x="405130" y="8979789"/>
                  </a:lnTo>
                  <a:cubicBezTo>
                    <a:pt x="181356" y="8979789"/>
                    <a:pt x="0" y="8798433"/>
                    <a:pt x="0" y="8574659"/>
                  </a:cubicBezTo>
                  <a:close/>
                </a:path>
              </a:pathLst>
            </a:custGeom>
            <a:solidFill>
              <a:srgbClr val="FFF0ED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318318" y="2404577"/>
            <a:ext cx="6940934" cy="348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0"/>
              </a:lnSpc>
            </a:pPr>
            <a:r>
              <a:rPr lang="en-US" sz="2025">
                <a:solidFill>
                  <a:srgbClr val="FF704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Word Decomposition Pipeline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838869" y="2954912"/>
            <a:ext cx="5899690" cy="2213762"/>
            <a:chOff x="0" y="0"/>
            <a:chExt cx="7866253" cy="2951683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7866253" cy="2951734"/>
            </a:xfrm>
            <a:custGeom>
              <a:avLst/>
              <a:gdLst/>
              <a:ahLst/>
              <a:cxnLst/>
              <a:rect l="l" t="t" r="r" b="b"/>
              <a:pathLst>
                <a:path w="7866253" h="2951734">
                  <a:moveTo>
                    <a:pt x="0" y="0"/>
                  </a:moveTo>
                  <a:lnTo>
                    <a:pt x="7866253" y="0"/>
                  </a:lnTo>
                  <a:lnTo>
                    <a:pt x="7866253" y="2951734"/>
                  </a:lnTo>
                  <a:lnTo>
                    <a:pt x="0" y="2951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57" b="-155"/>
              </a:stretch>
            </a:blipFill>
          </p:spPr>
        </p:sp>
      </p:grpSp>
      <p:sp>
        <p:nvSpPr>
          <p:cNvPr id="36" name="TextBox 36"/>
          <p:cNvSpPr txBox="1"/>
          <p:nvPr/>
        </p:nvSpPr>
        <p:spPr>
          <a:xfrm>
            <a:off x="15605655" y="4536034"/>
            <a:ext cx="889797" cy="35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Structured Output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484267" y="4621740"/>
            <a:ext cx="889797" cy="18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POS Tagging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368976" y="4450318"/>
            <a:ext cx="889797" cy="52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Morpheme Segmentation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53674" y="4621740"/>
            <a:ext cx="889797" cy="18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Tokenization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3999" y="4621740"/>
            <a:ext cx="889797" cy="180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0"/>
              </a:lnSpc>
            </a:pPr>
            <a:r>
              <a:rPr lang="en-US" sz="1050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Input Word</a:t>
            </a:r>
          </a:p>
        </p:txBody>
      </p:sp>
      <p:pic>
        <p:nvPicPr>
          <p:cNvPr id="42" name="Picture 41" descr="ChatGPT Image Jul 24, 2026, 07_30_58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5500"/>
            <a:ext cx="9211945" cy="73729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50433"/>
            <a:ext cx="16315868" cy="71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5"/>
              </a:lnSpc>
            </a:pPr>
            <a:r>
              <a:rPr lang="en-US" sz="4355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Techniques Used in Morphological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991" y="2074107"/>
            <a:ext cx="9908581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Five major paradigms power morphological analysis systems for Indian languages — ranging from hand-crafted linguistic rules to state-of-the-art transformer architectures.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8219" y="3050981"/>
            <a:ext cx="9918116" cy="6053099"/>
            <a:chOff x="0" y="0"/>
            <a:chExt cx="13224154" cy="80707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224129" cy="8070850"/>
            </a:xfrm>
            <a:custGeom>
              <a:avLst/>
              <a:gdLst/>
              <a:ahLst/>
              <a:cxnLst/>
              <a:rect l="l" t="t" r="r" b="b"/>
              <a:pathLst>
                <a:path w="13224129" h="8070850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lnTo>
                    <a:pt x="12955524" y="0"/>
                  </a:lnTo>
                  <a:cubicBezTo>
                    <a:pt x="13103859" y="0"/>
                    <a:pt x="13224129" y="120269"/>
                    <a:pt x="13224129" y="268605"/>
                  </a:cubicBezTo>
                  <a:lnTo>
                    <a:pt x="13224129" y="7802245"/>
                  </a:lnTo>
                  <a:cubicBezTo>
                    <a:pt x="13224129" y="7950581"/>
                    <a:pt x="13103859" y="8070850"/>
                    <a:pt x="12955524" y="8070850"/>
                  </a:cubicBezTo>
                  <a:lnTo>
                    <a:pt x="268605" y="8070850"/>
                  </a:lnTo>
                  <a:cubicBezTo>
                    <a:pt x="120269" y="8070850"/>
                    <a:pt x="0" y="7950581"/>
                    <a:pt x="0" y="7802245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304" r="-28304"/>
              </a:stretch>
            </a:blipFill>
            <a:ln w="9532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92991" y="4009587"/>
            <a:ext cx="9908581" cy="13964"/>
            <a:chOff x="0" y="0"/>
            <a:chExt cx="13211442" cy="186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11429" cy="18669"/>
            </a:xfrm>
            <a:custGeom>
              <a:avLst/>
              <a:gdLst/>
              <a:ahLst/>
              <a:cxnLst/>
              <a:rect l="l" t="t" r="r" b="b"/>
              <a:pathLst>
                <a:path w="13211429" h="18669">
                  <a:moveTo>
                    <a:pt x="0" y="0"/>
                  </a:moveTo>
                  <a:lnTo>
                    <a:pt x="13211429" y="0"/>
                  </a:lnTo>
                  <a:lnTo>
                    <a:pt x="13211429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92991" y="4958658"/>
            <a:ext cx="9908581" cy="13964"/>
            <a:chOff x="0" y="0"/>
            <a:chExt cx="13211442" cy="186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211429" cy="18669"/>
            </a:xfrm>
            <a:custGeom>
              <a:avLst/>
              <a:gdLst/>
              <a:ahLst/>
              <a:cxnLst/>
              <a:rect l="l" t="t" r="r" b="b"/>
              <a:pathLst>
                <a:path w="13211429" h="18669">
                  <a:moveTo>
                    <a:pt x="0" y="0"/>
                  </a:moveTo>
                  <a:lnTo>
                    <a:pt x="13211429" y="0"/>
                  </a:lnTo>
                  <a:lnTo>
                    <a:pt x="13211429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992991" y="5907738"/>
            <a:ext cx="9908581" cy="13964"/>
            <a:chOff x="0" y="0"/>
            <a:chExt cx="13211442" cy="186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211429" cy="18669"/>
            </a:xfrm>
            <a:custGeom>
              <a:avLst/>
              <a:gdLst/>
              <a:ahLst/>
              <a:cxnLst/>
              <a:rect l="l" t="t" r="r" b="b"/>
              <a:pathLst>
                <a:path w="13211429" h="18669">
                  <a:moveTo>
                    <a:pt x="0" y="0"/>
                  </a:moveTo>
                  <a:lnTo>
                    <a:pt x="13211429" y="0"/>
                  </a:lnTo>
                  <a:lnTo>
                    <a:pt x="13211429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992991" y="6856809"/>
            <a:ext cx="9908581" cy="13964"/>
            <a:chOff x="0" y="0"/>
            <a:chExt cx="13211442" cy="186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1429" cy="18669"/>
            </a:xfrm>
            <a:custGeom>
              <a:avLst/>
              <a:gdLst/>
              <a:ahLst/>
              <a:cxnLst/>
              <a:rect l="l" t="t" r="r" b="b"/>
              <a:pathLst>
                <a:path w="13211429" h="18669">
                  <a:moveTo>
                    <a:pt x="0" y="0"/>
                  </a:moveTo>
                  <a:lnTo>
                    <a:pt x="13211429" y="0"/>
                  </a:lnTo>
                  <a:lnTo>
                    <a:pt x="13211429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92991" y="7805880"/>
            <a:ext cx="9908581" cy="13964"/>
            <a:chOff x="0" y="0"/>
            <a:chExt cx="13211442" cy="1861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3211429" cy="18669"/>
            </a:xfrm>
            <a:custGeom>
              <a:avLst/>
              <a:gdLst/>
              <a:ahLst/>
              <a:cxnLst/>
              <a:rect l="l" t="t" r="r" b="b"/>
              <a:pathLst>
                <a:path w="13211429" h="18669">
                  <a:moveTo>
                    <a:pt x="0" y="0"/>
                  </a:moveTo>
                  <a:lnTo>
                    <a:pt x="13211429" y="0"/>
                  </a:lnTo>
                  <a:lnTo>
                    <a:pt x="13211429" y="18669"/>
                  </a:lnTo>
                  <a:lnTo>
                    <a:pt x="0" y="18669"/>
                  </a:ln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02963" y="3065278"/>
            <a:ext cx="2072811" cy="944308"/>
            <a:chOff x="0" y="0"/>
            <a:chExt cx="2763749" cy="125907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63774" cy="1259078"/>
            </a:xfrm>
            <a:custGeom>
              <a:avLst/>
              <a:gdLst/>
              <a:ahLst/>
              <a:cxnLst/>
              <a:rect l="l" t="t" r="r" b="b"/>
              <a:pathLst>
                <a:path w="2763774" h="1259078">
                  <a:moveTo>
                    <a:pt x="0" y="0"/>
                  </a:moveTo>
                  <a:lnTo>
                    <a:pt x="2763774" y="0"/>
                  </a:lnTo>
                  <a:lnTo>
                    <a:pt x="2763774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FF7047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26382" y="3119257"/>
            <a:ext cx="2541079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 b="1">
                <a:solidFill>
                  <a:srgbClr val="272525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Technique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075775" y="3065278"/>
            <a:ext cx="1558519" cy="944308"/>
            <a:chOff x="0" y="0"/>
            <a:chExt cx="2078025" cy="125907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77974" cy="1259078"/>
            </a:xfrm>
            <a:custGeom>
              <a:avLst/>
              <a:gdLst/>
              <a:ahLst/>
              <a:cxnLst/>
              <a:rect l="l" t="t" r="r" b="b"/>
              <a:pathLst>
                <a:path w="2077974" h="1259078">
                  <a:moveTo>
                    <a:pt x="0" y="0"/>
                  </a:moveTo>
                  <a:lnTo>
                    <a:pt x="2077974" y="0"/>
                  </a:lnTo>
                  <a:lnTo>
                    <a:pt x="2077974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FF7047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3299184" y="3119257"/>
            <a:ext cx="2026787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 b="1">
                <a:solidFill>
                  <a:srgbClr val="272525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Accuracy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634294" y="3065278"/>
            <a:ext cx="1639538" cy="944308"/>
            <a:chOff x="0" y="0"/>
            <a:chExt cx="2186051" cy="125907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86051" cy="1259078"/>
            </a:xfrm>
            <a:custGeom>
              <a:avLst/>
              <a:gdLst/>
              <a:ahLst/>
              <a:cxnLst/>
              <a:rect l="l" t="t" r="r" b="b"/>
              <a:pathLst>
                <a:path w="2186051" h="1259078">
                  <a:moveTo>
                    <a:pt x="0" y="0"/>
                  </a:moveTo>
                  <a:lnTo>
                    <a:pt x="2186051" y="0"/>
                  </a:lnTo>
                  <a:lnTo>
                    <a:pt x="2186051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FF7047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4857702" y="3119257"/>
            <a:ext cx="210780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 b="1">
                <a:solidFill>
                  <a:srgbClr val="272525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Scalability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6273832" y="3065278"/>
            <a:ext cx="1731588" cy="944308"/>
            <a:chOff x="0" y="0"/>
            <a:chExt cx="2308784" cy="125907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08733" cy="1259078"/>
            </a:xfrm>
            <a:custGeom>
              <a:avLst/>
              <a:gdLst/>
              <a:ahLst/>
              <a:cxnLst/>
              <a:rect l="l" t="t" r="r" b="b"/>
              <a:pathLst>
                <a:path w="2308733" h="1259078">
                  <a:moveTo>
                    <a:pt x="0" y="0"/>
                  </a:moveTo>
                  <a:lnTo>
                    <a:pt x="2308733" y="0"/>
                  </a:lnTo>
                  <a:lnTo>
                    <a:pt x="2308733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FF7047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6497241" y="3119257"/>
            <a:ext cx="1284761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 b="1">
                <a:solidFill>
                  <a:srgbClr val="272525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Data Needed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005420" y="3065278"/>
            <a:ext cx="2886618" cy="944308"/>
            <a:chOff x="0" y="0"/>
            <a:chExt cx="3848824" cy="125907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848862" cy="1259078"/>
            </a:xfrm>
            <a:custGeom>
              <a:avLst/>
              <a:gdLst/>
              <a:ahLst/>
              <a:cxnLst/>
              <a:rect l="l" t="t" r="r" b="b"/>
              <a:pathLst>
                <a:path w="3848862" h="1259078">
                  <a:moveTo>
                    <a:pt x="0" y="0"/>
                  </a:moveTo>
                  <a:lnTo>
                    <a:pt x="3848862" y="0"/>
                  </a:lnTo>
                  <a:lnTo>
                    <a:pt x="3848862" y="1259078"/>
                  </a:lnTo>
                  <a:lnTo>
                    <a:pt x="0" y="1259078"/>
                  </a:lnTo>
                  <a:close/>
                </a:path>
              </a:pathLst>
            </a:custGeom>
            <a:solidFill>
              <a:srgbClr val="FF7047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8228828" y="3119257"/>
            <a:ext cx="335488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 b="1">
                <a:solidFill>
                  <a:srgbClr val="272525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Best For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6382" y="4068328"/>
            <a:ext cx="2541079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Rule-Based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299184" y="4068328"/>
            <a:ext cx="2026787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High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857702" y="4068328"/>
            <a:ext cx="210780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Low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497241" y="4068328"/>
            <a:ext cx="219985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None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28828" y="4068328"/>
            <a:ext cx="2439800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Well-resourced languages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26382" y="5017408"/>
            <a:ext cx="1625984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Dictionary-Based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99184" y="5017408"/>
            <a:ext cx="2026787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Medium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57702" y="5017408"/>
            <a:ext cx="210780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Medium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97241" y="5017408"/>
            <a:ext cx="219985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Lexicon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28828" y="5017408"/>
            <a:ext cx="335488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Closed-domain tasks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26382" y="5966479"/>
            <a:ext cx="1625984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Machine Learning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99184" y="5966479"/>
            <a:ext cx="2026787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High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857702" y="5966479"/>
            <a:ext cx="210780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High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97241" y="5966479"/>
            <a:ext cx="1284761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Annotated corpus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28828" y="5966479"/>
            <a:ext cx="335488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General NLP tasks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26382" y="6915550"/>
            <a:ext cx="2541079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Deep Learning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99184" y="6915550"/>
            <a:ext cx="2026787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Very High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857702" y="6915550"/>
            <a:ext cx="210780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High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97241" y="6915550"/>
            <a:ext cx="1284761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Large corpus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28828" y="6915550"/>
            <a:ext cx="335488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Complex morphology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26382" y="7864621"/>
            <a:ext cx="1625984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chemeClr val="tx1">
                    <a:lumMod val="50000"/>
                    <a:lumOff val="50000"/>
                  </a:schemeClr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Transformers (IndicBERT/MuRIL)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299184" y="7864621"/>
            <a:ext cx="2026787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 b="1">
                <a:solidFill>
                  <a:schemeClr val="tx1">
                    <a:lumMod val="50000"/>
                    <a:lumOff val="50000"/>
                  </a:schemeClr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SOTA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57702" y="7864621"/>
            <a:ext cx="210780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Very High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97241" y="7864621"/>
            <a:ext cx="1284761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Multilingual data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228828" y="7864621"/>
            <a:ext cx="3354886" cy="41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Cross-lingual tasks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1295374" y="1969341"/>
            <a:ext cx="6183725" cy="7356224"/>
            <a:chOff x="0" y="0"/>
            <a:chExt cx="8244967" cy="9808299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244840" cy="9808211"/>
            </a:xfrm>
            <a:custGeom>
              <a:avLst/>
              <a:gdLst/>
              <a:ahLst/>
              <a:cxnLst/>
              <a:rect l="l" t="t" r="r" b="b"/>
              <a:pathLst>
                <a:path w="8244840" h="9808211">
                  <a:moveTo>
                    <a:pt x="0" y="429006"/>
                  </a:moveTo>
                  <a:cubicBezTo>
                    <a:pt x="0" y="192151"/>
                    <a:pt x="192151" y="0"/>
                    <a:pt x="429006" y="0"/>
                  </a:cubicBezTo>
                  <a:lnTo>
                    <a:pt x="7815834" y="0"/>
                  </a:lnTo>
                  <a:cubicBezTo>
                    <a:pt x="8052815" y="0"/>
                    <a:pt x="8244840" y="192151"/>
                    <a:pt x="8244840" y="429006"/>
                  </a:cubicBezTo>
                  <a:lnTo>
                    <a:pt x="8244840" y="9379204"/>
                  </a:lnTo>
                  <a:cubicBezTo>
                    <a:pt x="8244840" y="9616186"/>
                    <a:pt x="8052689" y="9808211"/>
                    <a:pt x="7815834" y="9808211"/>
                  </a:cubicBezTo>
                  <a:lnTo>
                    <a:pt x="429006" y="9808211"/>
                  </a:lnTo>
                  <a:cubicBezTo>
                    <a:pt x="192151" y="9808337"/>
                    <a:pt x="0" y="9616186"/>
                    <a:pt x="0" y="9379204"/>
                  </a:cubicBezTo>
                  <a:close/>
                </a:path>
              </a:pathLst>
            </a:custGeom>
            <a:solidFill>
              <a:srgbClr val="FFF0ED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11518783" y="2160899"/>
            <a:ext cx="5736898" cy="35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5"/>
              </a:lnSpc>
            </a:pPr>
            <a:r>
              <a:rPr lang="en-US" sz="2175">
                <a:solidFill>
                  <a:srgbClr val="FF704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Architecture Evolution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1737429" y="3076004"/>
            <a:ext cx="232943" cy="1350331"/>
            <a:chOff x="0" y="0"/>
            <a:chExt cx="310591" cy="180044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10642" cy="1800479"/>
            </a:xfrm>
            <a:custGeom>
              <a:avLst/>
              <a:gdLst/>
              <a:ahLst/>
              <a:cxnLst/>
              <a:rect l="l" t="t" r="r" b="b"/>
              <a:pathLst>
                <a:path w="310642" h="1800479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cubicBezTo>
                    <a:pt x="241173" y="0"/>
                    <a:pt x="310642" y="69469"/>
                    <a:pt x="310642" y="155321"/>
                  </a:cubicBezTo>
                  <a:lnTo>
                    <a:pt x="310642" y="1645158"/>
                  </a:lnTo>
                  <a:cubicBezTo>
                    <a:pt x="310642" y="1730883"/>
                    <a:pt x="241173" y="1800479"/>
                    <a:pt x="155321" y="1800479"/>
                  </a:cubicBezTo>
                  <a:cubicBezTo>
                    <a:pt x="69469" y="1800479"/>
                    <a:pt x="0" y="1730883"/>
                    <a:pt x="0" y="1645158"/>
                  </a:cubicBezTo>
                  <a:close/>
                </a:path>
              </a:pathLst>
            </a:custGeom>
            <a:solidFill>
              <a:srgbClr val="FFF0ED"/>
            </a:solidFill>
            <a:ln w="9532" cap="sq">
              <a:solidFill>
                <a:srgbClr val="FF7047"/>
              </a:solidFill>
              <a:prstDash val="solid"/>
              <a:miter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11514010" y="2929290"/>
            <a:ext cx="679761" cy="679780"/>
            <a:chOff x="0" y="0"/>
            <a:chExt cx="906348" cy="90637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06399" cy="906399"/>
            </a:xfrm>
            <a:custGeom>
              <a:avLst/>
              <a:gdLst/>
              <a:ahLst/>
              <a:cxnLst/>
              <a:rect l="l" t="t" r="r" b="b"/>
              <a:pathLst>
                <a:path w="906399" h="906399">
                  <a:moveTo>
                    <a:pt x="0" y="453136"/>
                  </a:moveTo>
                  <a:cubicBezTo>
                    <a:pt x="0" y="202946"/>
                    <a:pt x="202946" y="0"/>
                    <a:pt x="453136" y="0"/>
                  </a:cubicBezTo>
                  <a:cubicBezTo>
                    <a:pt x="703326" y="0"/>
                    <a:pt x="906399" y="202946"/>
                    <a:pt x="906399" y="453136"/>
                  </a:cubicBezTo>
                  <a:cubicBezTo>
                    <a:pt x="906399" y="703326"/>
                    <a:pt x="703453" y="906399"/>
                    <a:pt x="453136" y="906399"/>
                  </a:cubicBezTo>
                  <a:cubicBezTo>
                    <a:pt x="202819" y="906399"/>
                    <a:pt x="0" y="703453"/>
                    <a:pt x="0" y="453136"/>
                  </a:cubicBezTo>
                  <a:close/>
                </a:path>
              </a:pathLst>
            </a:custGeom>
            <a:solidFill>
              <a:srgbClr val="FFF0ED"/>
            </a:solidFill>
            <a:ln w="9532" cap="sq">
              <a:solidFill>
                <a:srgbClr val="FF7047"/>
              </a:solidFill>
              <a:prstDash val="solid"/>
              <a:miter/>
            </a:ln>
          </p:spPr>
        </p:sp>
      </p:grpSp>
      <p:sp>
        <p:nvSpPr>
          <p:cNvPr id="67" name="Freeform 67" descr="preencoded.png"/>
          <p:cNvSpPr/>
          <p:nvPr/>
        </p:nvSpPr>
        <p:spPr>
          <a:xfrm>
            <a:off x="11686337" y="3101616"/>
            <a:ext cx="335118" cy="335128"/>
          </a:xfrm>
          <a:custGeom>
            <a:avLst/>
            <a:gdLst/>
            <a:ahLst/>
            <a:cxnLst/>
            <a:rect l="l" t="t" r="r" b="b"/>
            <a:pathLst>
              <a:path w="335118" h="33512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r="-1"/>
            </a:stretch>
          </a:blipFill>
        </p:spPr>
      </p:sp>
      <p:sp>
        <p:nvSpPr>
          <p:cNvPr id="68" name="TextBox 68"/>
          <p:cNvSpPr txBox="1"/>
          <p:nvPr/>
        </p:nvSpPr>
        <p:spPr>
          <a:xfrm>
            <a:off x="12390082" y="2959532"/>
            <a:ext cx="4865599" cy="35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Rule-Based FSTs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390082" y="3442906"/>
            <a:ext cx="4865599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Finite-state transducers with hand-crafted grammar rules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12072547" y="4953152"/>
            <a:ext cx="232943" cy="1350331"/>
            <a:chOff x="0" y="0"/>
            <a:chExt cx="310591" cy="180044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10642" cy="1800479"/>
            </a:xfrm>
            <a:custGeom>
              <a:avLst/>
              <a:gdLst/>
              <a:ahLst/>
              <a:cxnLst/>
              <a:rect l="l" t="t" r="r" b="b"/>
              <a:pathLst>
                <a:path w="310642" h="1800479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cubicBezTo>
                    <a:pt x="241173" y="0"/>
                    <a:pt x="310642" y="69469"/>
                    <a:pt x="310642" y="155321"/>
                  </a:cubicBezTo>
                  <a:lnTo>
                    <a:pt x="310642" y="1645158"/>
                  </a:lnTo>
                  <a:cubicBezTo>
                    <a:pt x="310642" y="1730883"/>
                    <a:pt x="241173" y="1800479"/>
                    <a:pt x="155321" y="1800479"/>
                  </a:cubicBezTo>
                  <a:cubicBezTo>
                    <a:pt x="69469" y="1800479"/>
                    <a:pt x="0" y="1730883"/>
                    <a:pt x="0" y="1645158"/>
                  </a:cubicBezTo>
                  <a:close/>
                </a:path>
              </a:pathLst>
            </a:custGeom>
            <a:solidFill>
              <a:srgbClr val="FFF0ED"/>
            </a:solidFill>
            <a:ln w="9532" cap="sq">
              <a:solidFill>
                <a:srgbClr val="FF7047"/>
              </a:solidFill>
              <a:prstDash val="solid"/>
              <a:miter/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11849129" y="4806439"/>
            <a:ext cx="679761" cy="679780"/>
            <a:chOff x="0" y="0"/>
            <a:chExt cx="906348" cy="906374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906399" cy="906399"/>
            </a:xfrm>
            <a:custGeom>
              <a:avLst/>
              <a:gdLst/>
              <a:ahLst/>
              <a:cxnLst/>
              <a:rect l="l" t="t" r="r" b="b"/>
              <a:pathLst>
                <a:path w="906399" h="906399">
                  <a:moveTo>
                    <a:pt x="0" y="453136"/>
                  </a:moveTo>
                  <a:cubicBezTo>
                    <a:pt x="0" y="202946"/>
                    <a:pt x="202946" y="0"/>
                    <a:pt x="453136" y="0"/>
                  </a:cubicBezTo>
                  <a:cubicBezTo>
                    <a:pt x="703326" y="0"/>
                    <a:pt x="906399" y="202946"/>
                    <a:pt x="906399" y="453136"/>
                  </a:cubicBezTo>
                  <a:cubicBezTo>
                    <a:pt x="906399" y="703326"/>
                    <a:pt x="703453" y="906399"/>
                    <a:pt x="453136" y="906399"/>
                  </a:cubicBezTo>
                  <a:cubicBezTo>
                    <a:pt x="202819" y="906399"/>
                    <a:pt x="0" y="703453"/>
                    <a:pt x="0" y="453136"/>
                  </a:cubicBezTo>
                  <a:close/>
                </a:path>
              </a:pathLst>
            </a:custGeom>
            <a:solidFill>
              <a:srgbClr val="FFF0ED"/>
            </a:solidFill>
            <a:ln w="9532" cap="sq">
              <a:solidFill>
                <a:srgbClr val="FF7047"/>
              </a:solidFill>
              <a:prstDash val="solid"/>
              <a:miter/>
            </a:ln>
          </p:spPr>
        </p:sp>
      </p:grpSp>
      <p:sp>
        <p:nvSpPr>
          <p:cNvPr id="74" name="Freeform 74" descr="preencoded.png"/>
          <p:cNvSpPr/>
          <p:nvPr/>
        </p:nvSpPr>
        <p:spPr>
          <a:xfrm>
            <a:off x="12021455" y="4978765"/>
            <a:ext cx="335118" cy="335128"/>
          </a:xfrm>
          <a:custGeom>
            <a:avLst/>
            <a:gdLst/>
            <a:ahLst/>
            <a:cxnLst/>
            <a:rect l="l" t="t" r="r" b="b"/>
            <a:pathLst>
              <a:path w="335118" h="33512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6943" b="-6940"/>
            </a:stretch>
          </a:blipFill>
        </p:spPr>
      </p:sp>
      <p:sp>
        <p:nvSpPr>
          <p:cNvPr id="75" name="TextBox 75"/>
          <p:cNvSpPr txBox="1"/>
          <p:nvPr/>
        </p:nvSpPr>
        <p:spPr>
          <a:xfrm>
            <a:off x="12725200" y="4836681"/>
            <a:ext cx="4530481" cy="358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Statistical ML (CRF/SVM)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2725200" y="5320055"/>
            <a:ext cx="4530481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Trained on annotated Indian language corpora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2407656" y="6830292"/>
            <a:ext cx="232943" cy="1699308"/>
            <a:chOff x="0" y="0"/>
            <a:chExt cx="310591" cy="226574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10642" cy="2265807"/>
            </a:xfrm>
            <a:custGeom>
              <a:avLst/>
              <a:gdLst/>
              <a:ahLst/>
              <a:cxnLst/>
              <a:rect l="l" t="t" r="r" b="b"/>
              <a:pathLst>
                <a:path w="310642" h="2265807">
                  <a:moveTo>
                    <a:pt x="0" y="155321"/>
                  </a:moveTo>
                  <a:cubicBezTo>
                    <a:pt x="0" y="69469"/>
                    <a:pt x="69469" y="0"/>
                    <a:pt x="155321" y="0"/>
                  </a:cubicBezTo>
                  <a:cubicBezTo>
                    <a:pt x="241173" y="0"/>
                    <a:pt x="310642" y="69469"/>
                    <a:pt x="310642" y="155321"/>
                  </a:cubicBezTo>
                  <a:lnTo>
                    <a:pt x="310642" y="2110486"/>
                  </a:lnTo>
                  <a:cubicBezTo>
                    <a:pt x="310642" y="2196211"/>
                    <a:pt x="241173" y="2265807"/>
                    <a:pt x="155321" y="2265807"/>
                  </a:cubicBezTo>
                  <a:cubicBezTo>
                    <a:pt x="69469" y="2265807"/>
                    <a:pt x="0" y="2196211"/>
                    <a:pt x="0" y="2110486"/>
                  </a:cubicBezTo>
                  <a:close/>
                </a:path>
              </a:pathLst>
            </a:custGeom>
            <a:solidFill>
              <a:srgbClr val="FFF0ED"/>
            </a:solidFill>
            <a:ln w="9532" cap="sq">
              <a:solidFill>
                <a:srgbClr val="FF7047"/>
              </a:solidFill>
              <a:prstDash val="solid"/>
              <a:miter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12184247" y="6683588"/>
            <a:ext cx="679761" cy="679780"/>
            <a:chOff x="0" y="0"/>
            <a:chExt cx="906348" cy="90637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906399" cy="906399"/>
            </a:xfrm>
            <a:custGeom>
              <a:avLst/>
              <a:gdLst/>
              <a:ahLst/>
              <a:cxnLst/>
              <a:rect l="l" t="t" r="r" b="b"/>
              <a:pathLst>
                <a:path w="906399" h="906399">
                  <a:moveTo>
                    <a:pt x="0" y="453136"/>
                  </a:moveTo>
                  <a:cubicBezTo>
                    <a:pt x="0" y="202946"/>
                    <a:pt x="202946" y="0"/>
                    <a:pt x="453136" y="0"/>
                  </a:cubicBezTo>
                  <a:cubicBezTo>
                    <a:pt x="703326" y="0"/>
                    <a:pt x="906399" y="202946"/>
                    <a:pt x="906399" y="453136"/>
                  </a:cubicBezTo>
                  <a:cubicBezTo>
                    <a:pt x="906399" y="703326"/>
                    <a:pt x="703453" y="906399"/>
                    <a:pt x="453136" y="906399"/>
                  </a:cubicBezTo>
                  <a:cubicBezTo>
                    <a:pt x="202819" y="906399"/>
                    <a:pt x="0" y="703453"/>
                    <a:pt x="0" y="453136"/>
                  </a:cubicBezTo>
                  <a:close/>
                </a:path>
              </a:pathLst>
            </a:custGeom>
            <a:solidFill>
              <a:srgbClr val="FFF0ED"/>
            </a:solidFill>
            <a:ln w="9532" cap="sq">
              <a:solidFill>
                <a:srgbClr val="FF7047"/>
              </a:solidFill>
              <a:prstDash val="solid"/>
              <a:miter/>
            </a:ln>
          </p:spPr>
        </p:sp>
      </p:grpSp>
      <p:sp>
        <p:nvSpPr>
          <p:cNvPr id="81" name="Freeform 81" descr="preencoded.png"/>
          <p:cNvSpPr/>
          <p:nvPr/>
        </p:nvSpPr>
        <p:spPr>
          <a:xfrm>
            <a:off x="12356573" y="6855914"/>
            <a:ext cx="335118" cy="335128"/>
          </a:xfrm>
          <a:custGeom>
            <a:avLst/>
            <a:gdLst/>
            <a:ahLst/>
            <a:cxnLst/>
            <a:rect l="l" t="t" r="r" b="b"/>
            <a:pathLst>
              <a:path w="335118" h="335128">
                <a:moveTo>
                  <a:pt x="0" y="0"/>
                </a:moveTo>
                <a:lnTo>
                  <a:pt x="335118" y="0"/>
                </a:lnTo>
                <a:lnTo>
                  <a:pt x="335118" y="335128"/>
                </a:lnTo>
                <a:lnTo>
                  <a:pt x="0" y="3351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779" r="-2776"/>
            </a:stretch>
          </a:blipFill>
        </p:spPr>
      </p:sp>
      <p:sp>
        <p:nvSpPr>
          <p:cNvPr id="82" name="TextBox 82"/>
          <p:cNvSpPr txBox="1"/>
          <p:nvPr/>
        </p:nvSpPr>
        <p:spPr>
          <a:xfrm>
            <a:off x="13060318" y="6713830"/>
            <a:ext cx="4195362" cy="70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5"/>
              </a:lnSpc>
            </a:pPr>
            <a:r>
              <a:rPr lang="en-US" sz="2175">
                <a:solidFill>
                  <a:srgbClr val="55575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Transformers (MuRIL/IndicBERT)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060318" y="7546181"/>
            <a:ext cx="4195362" cy="75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5">
                <a:solidFill>
                  <a:srgbClr val="55575A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Pre-trained on multilingual data — state-of-the-art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917658"/>
            <a:ext cx="16315868" cy="75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8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Applications of Morphological Analysis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2121713"/>
            <a:ext cx="471697" cy="471707"/>
          </a:xfrm>
          <a:custGeom>
            <a:avLst/>
            <a:gdLst/>
            <a:ahLst/>
            <a:cxnLst/>
            <a:rect l="l" t="t" r="r" b="b"/>
            <a:pathLst>
              <a:path w="471697" h="471707">
                <a:moveTo>
                  <a:pt x="0" y="0"/>
                </a:moveTo>
                <a:lnTo>
                  <a:pt x="471697" y="0"/>
                </a:lnTo>
                <a:lnTo>
                  <a:pt x="471697" y="471706"/>
                </a:lnTo>
                <a:lnTo>
                  <a:pt x="0" y="471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/>
            </a:stretch>
          </a:blipFill>
        </p:spPr>
      </p:sp>
      <p:sp>
        <p:nvSpPr>
          <p:cNvPr id="10" name="Freeform 10" descr="preencoded.png"/>
          <p:cNvSpPr/>
          <p:nvPr/>
        </p:nvSpPr>
        <p:spPr>
          <a:xfrm>
            <a:off x="9290923" y="2121713"/>
            <a:ext cx="471697" cy="471707"/>
          </a:xfrm>
          <a:custGeom>
            <a:avLst/>
            <a:gdLst/>
            <a:ahLst/>
            <a:cxnLst/>
            <a:rect l="l" t="t" r="r" b="b"/>
            <a:pathLst>
              <a:path w="471697" h="471707">
                <a:moveTo>
                  <a:pt x="0" y="0"/>
                </a:moveTo>
                <a:lnTo>
                  <a:pt x="471697" y="0"/>
                </a:lnTo>
                <a:lnTo>
                  <a:pt x="471697" y="471706"/>
                </a:lnTo>
                <a:lnTo>
                  <a:pt x="0" y="4717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999" b="-1999"/>
            </a:stretch>
          </a:blipFill>
        </p:spPr>
      </p:sp>
      <p:sp>
        <p:nvSpPr>
          <p:cNvPr id="13" name="Freeform 13" descr="preencoded.png"/>
          <p:cNvSpPr/>
          <p:nvPr/>
        </p:nvSpPr>
        <p:spPr>
          <a:xfrm>
            <a:off x="992991" y="4928568"/>
            <a:ext cx="471697" cy="471707"/>
          </a:xfrm>
          <a:custGeom>
            <a:avLst/>
            <a:gdLst/>
            <a:ahLst/>
            <a:cxnLst/>
            <a:rect l="l" t="t" r="r" b="b"/>
            <a:pathLst>
              <a:path w="471697" h="471707">
                <a:moveTo>
                  <a:pt x="0" y="0"/>
                </a:moveTo>
                <a:lnTo>
                  <a:pt x="471697" y="0"/>
                </a:lnTo>
                <a:lnTo>
                  <a:pt x="471697" y="471707"/>
                </a:lnTo>
                <a:lnTo>
                  <a:pt x="0" y="471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999" b="-997"/>
            </a:stretch>
          </a:blipFill>
        </p:spPr>
      </p:sp>
      <p:sp>
        <p:nvSpPr>
          <p:cNvPr id="16" name="Freeform 16" descr="preencoded.png"/>
          <p:cNvSpPr/>
          <p:nvPr/>
        </p:nvSpPr>
        <p:spPr>
          <a:xfrm>
            <a:off x="9290923" y="4928568"/>
            <a:ext cx="471697" cy="471707"/>
          </a:xfrm>
          <a:custGeom>
            <a:avLst/>
            <a:gdLst/>
            <a:ahLst/>
            <a:cxnLst/>
            <a:rect l="l" t="t" r="r" b="b"/>
            <a:pathLst>
              <a:path w="471697" h="471707">
                <a:moveTo>
                  <a:pt x="0" y="0"/>
                </a:moveTo>
                <a:lnTo>
                  <a:pt x="471697" y="0"/>
                </a:lnTo>
                <a:lnTo>
                  <a:pt x="471697" y="471707"/>
                </a:lnTo>
                <a:lnTo>
                  <a:pt x="0" y="4717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31997" b="-31999"/>
            </a:stretch>
          </a:blipFill>
        </p:spPr>
      </p:sp>
      <p:sp>
        <p:nvSpPr>
          <p:cNvPr id="19" name="Freeform 19" descr="preencoded.png"/>
          <p:cNvSpPr/>
          <p:nvPr/>
        </p:nvSpPr>
        <p:spPr>
          <a:xfrm>
            <a:off x="992991" y="7367387"/>
            <a:ext cx="471697" cy="471707"/>
          </a:xfrm>
          <a:custGeom>
            <a:avLst/>
            <a:gdLst/>
            <a:ahLst/>
            <a:cxnLst/>
            <a:rect l="l" t="t" r="r" b="b"/>
            <a:pathLst>
              <a:path w="471697" h="471707">
                <a:moveTo>
                  <a:pt x="0" y="0"/>
                </a:moveTo>
                <a:lnTo>
                  <a:pt x="471697" y="0"/>
                </a:lnTo>
                <a:lnTo>
                  <a:pt x="471697" y="471707"/>
                </a:lnTo>
                <a:lnTo>
                  <a:pt x="0" y="4717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999" b="-997"/>
            </a:stretch>
          </a:blipFill>
        </p:spPr>
      </p:sp>
      <p:sp>
        <p:nvSpPr>
          <p:cNvPr id="22" name="Freeform 22" descr="preencoded.png"/>
          <p:cNvSpPr/>
          <p:nvPr/>
        </p:nvSpPr>
        <p:spPr>
          <a:xfrm>
            <a:off x="9290923" y="7367387"/>
            <a:ext cx="471697" cy="471707"/>
          </a:xfrm>
          <a:custGeom>
            <a:avLst/>
            <a:gdLst/>
            <a:ahLst/>
            <a:cxnLst/>
            <a:rect l="l" t="t" r="r" b="b"/>
            <a:pathLst>
              <a:path w="471697" h="471707">
                <a:moveTo>
                  <a:pt x="0" y="0"/>
                </a:moveTo>
                <a:lnTo>
                  <a:pt x="471697" y="0"/>
                </a:lnTo>
                <a:lnTo>
                  <a:pt x="471697" y="471707"/>
                </a:lnTo>
                <a:lnTo>
                  <a:pt x="0" y="4717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"/>
            </a:stretch>
          </a:blipFill>
        </p:spPr>
      </p:sp>
      <p:pic>
        <p:nvPicPr>
          <p:cNvPr id="26" name="Picture 25" descr="ChatGPT Image Jul 24, 2026, 07_30_19 PM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52600" y="1788160"/>
            <a:ext cx="14777085" cy="7906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52395" y="-114084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173024" y="1080030"/>
            <a:ext cx="7901445" cy="8790823"/>
            <a:chOff x="0" y="0"/>
            <a:chExt cx="10535260" cy="117210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35285" cy="11721084"/>
            </a:xfrm>
            <a:custGeom>
              <a:avLst/>
              <a:gdLst/>
              <a:ahLst/>
              <a:cxnLst/>
              <a:rect l="l" t="t" r="r" b="b"/>
              <a:pathLst>
                <a:path w="10535285" h="11721084">
                  <a:moveTo>
                    <a:pt x="0" y="177673"/>
                  </a:moveTo>
                  <a:cubicBezTo>
                    <a:pt x="0" y="79502"/>
                    <a:pt x="79502" y="0"/>
                    <a:pt x="177673" y="0"/>
                  </a:cubicBezTo>
                  <a:lnTo>
                    <a:pt x="10357612" y="0"/>
                  </a:lnTo>
                  <a:cubicBezTo>
                    <a:pt x="10455656" y="0"/>
                    <a:pt x="10535285" y="79502"/>
                    <a:pt x="10535285" y="177673"/>
                  </a:cubicBezTo>
                  <a:lnTo>
                    <a:pt x="10535285" y="11543411"/>
                  </a:lnTo>
                  <a:cubicBezTo>
                    <a:pt x="10535285" y="11641455"/>
                    <a:pt x="10455783" y="11721084"/>
                    <a:pt x="10357612" y="11721084"/>
                  </a:cubicBezTo>
                  <a:lnTo>
                    <a:pt x="177673" y="11721084"/>
                  </a:lnTo>
                  <a:cubicBezTo>
                    <a:pt x="79502" y="11721084"/>
                    <a:pt x="0" y="11641582"/>
                    <a:pt x="0" y="11543411"/>
                  </a:cubicBezTo>
                  <a:close/>
                </a:path>
              </a:pathLst>
            </a:custGeom>
            <a:solidFill>
              <a:srgbClr val="FFF0E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0172071" y="1083850"/>
            <a:ext cx="7934811" cy="162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lang="en-US" sz="975">
                <a:solidFill>
                  <a:srgbClr val="FF7047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NLP Morphological Analysis Pipeline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672524" y="1313574"/>
            <a:ext cx="6609798" cy="8124501"/>
            <a:chOff x="0" y="0"/>
            <a:chExt cx="8813063" cy="10832668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8813038" cy="10832719"/>
            </a:xfrm>
            <a:custGeom>
              <a:avLst/>
              <a:gdLst/>
              <a:ahLst/>
              <a:cxnLst/>
              <a:rect l="l" t="t" r="r" b="b"/>
              <a:pathLst>
                <a:path w="8813038" h="10832719">
                  <a:moveTo>
                    <a:pt x="0" y="0"/>
                  </a:moveTo>
                  <a:lnTo>
                    <a:pt x="8813038" y="0"/>
                  </a:lnTo>
                  <a:lnTo>
                    <a:pt x="8813038" y="10832719"/>
                  </a:lnTo>
                  <a:lnTo>
                    <a:pt x="0" y="1083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254" b="-4254"/>
              </a:stretch>
            </a:blipFill>
          </p:spPr>
        </p:sp>
      </p:grpSp>
      <p:sp>
        <p:nvSpPr>
          <p:cNvPr id="23" name="Text Box 22"/>
          <p:cNvSpPr txBox="1"/>
          <p:nvPr/>
        </p:nvSpPr>
        <p:spPr>
          <a:xfrm>
            <a:off x="685800" y="1714500"/>
            <a:ext cx="58781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0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685800" y="2857500"/>
            <a:ext cx="8691245" cy="6070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500">
                <a:latin typeface="Times New Roman" panose="02020603050405020304" charset="0"/>
                <a:cs typeface="Times New Roman" panose="02020603050405020304" charset="0"/>
              </a:rPr>
              <a:t>Morphological Analysis identifies root words and grammatical variations in natural language text.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500">
                <a:latin typeface="Times New Roman" panose="02020603050405020304" charset="0"/>
                <a:cs typeface="Times New Roman" panose="02020603050405020304" charset="0"/>
              </a:rPr>
              <a:t>Indian languages require advanced analysis because they contain complex word structures.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500">
                <a:latin typeface="Times New Roman" panose="02020603050405020304" charset="0"/>
                <a:cs typeface="Times New Roman" panose="02020603050405020304" charset="0"/>
              </a:rPr>
              <a:t>It improves machine translation, spell checking, and information retrieval accuracy effectively.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500">
                <a:latin typeface="Times New Roman" panose="02020603050405020304" charset="0"/>
                <a:cs typeface="Times New Roman" panose="02020603050405020304" charset="0"/>
              </a:rPr>
              <a:t>Multiple techniques including rule-based and AI models enhance morphological processing performance.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500">
                <a:latin typeface="Times New Roman" panose="02020603050405020304" charset="0"/>
                <a:cs typeface="Times New Roman" panose="02020603050405020304" charset="0"/>
              </a:rPr>
              <a:t>Modern NLP models support accurate understanding of diverse Indian language variations effectively.</a:t>
            </a: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2500">
                <a:latin typeface="Times New Roman" panose="02020603050405020304" charset="0"/>
                <a:cs typeface="Times New Roman" panose="02020603050405020304" charset="0"/>
              </a:rPr>
              <a:t>Morphological Analysis strengthens intelligent language applications and improves human-computer communication.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0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628307" y="9846183"/>
            <a:ext cx="1609020" cy="384353"/>
            <a:chOff x="0" y="0"/>
            <a:chExt cx="2145360" cy="51247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145411" cy="512445"/>
            </a:xfrm>
            <a:custGeom>
              <a:avLst/>
              <a:gdLst/>
              <a:ahLst/>
              <a:cxnLst/>
              <a:rect l="l" t="t" r="r" b="b"/>
              <a:pathLst>
                <a:path w="2145411" h="512445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2" b="-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8649" y="0"/>
            <a:ext cx="6863191" cy="10295039"/>
            <a:chOff x="0" y="0"/>
            <a:chExt cx="9150922" cy="13726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50858" cy="13726668"/>
            </a:xfrm>
            <a:custGeom>
              <a:avLst/>
              <a:gdLst/>
              <a:ahLst/>
              <a:cxnLst/>
              <a:rect l="l" t="t" r="r" b="b"/>
              <a:pathLst>
                <a:path w="9150858" h="1372666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62721" y="737426"/>
            <a:ext cx="6614903" cy="8820198"/>
            <a:chOff x="0" y="0"/>
            <a:chExt cx="8819871" cy="11760264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819896" cy="11760200"/>
            </a:xfrm>
            <a:custGeom>
              <a:avLst/>
              <a:gdLst/>
              <a:ahLst/>
              <a:cxnLst/>
              <a:rect l="l" t="t" r="r" b="b"/>
              <a:pathLst>
                <a:path w="8819896" h="11760200">
                  <a:moveTo>
                    <a:pt x="0" y="0"/>
                  </a:moveTo>
                  <a:lnTo>
                    <a:pt x="8819896" y="0"/>
                  </a:lnTo>
                  <a:lnTo>
                    <a:pt x="8819896" y="11760200"/>
                  </a:lnTo>
                  <a:lnTo>
                    <a:pt x="0" y="11760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" r="-3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820014" y="3449900"/>
            <a:ext cx="7842151" cy="1290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55"/>
              </a:lnSpc>
            </a:pPr>
            <a:r>
              <a:rPr lang="en-US" sz="8300">
                <a:solidFill>
                  <a:srgbClr val="0C0D0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You..!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</Words>
  <Application>Microsoft Office PowerPoint</Application>
  <PresentationFormat>Custom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Inter</vt:lpstr>
      <vt:lpstr>Wingdings</vt:lpstr>
      <vt:lpstr>Times New Roman</vt:lpstr>
      <vt:lpstr>Calibri</vt:lpstr>
      <vt:lpstr>Arimo Bold</vt:lpstr>
      <vt:lpstr>Arial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Thank You..!</dc:title>
  <dc:creator/>
  <cp:lastModifiedBy>Pallam Hemachand</cp:lastModifiedBy>
  <cp:revision>18</cp:revision>
  <dcterms:created xsi:type="dcterms:W3CDTF">2006-08-16T00:00:00Z</dcterms:created>
  <dcterms:modified xsi:type="dcterms:W3CDTF">2026-07-28T03:20:16Z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1E058461F10846C39DD0E39A88B5FA54_12</vt:lpwstr>
  </property>
  <property fmtid="{D5CDD505-2E9C-101B-9397-08002B2CF9AE}" pid="3" name="KSOProductBuildVer">
    <vt:lpwstr>1033-12.1.0.27458</vt:lpwstr>
  </property>
</Properties>
</file>